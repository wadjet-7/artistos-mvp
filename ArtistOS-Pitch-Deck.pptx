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ArtistOS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All-in-One Creative Business Platform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37490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by Larry Jones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artistos-mvp.vercel.app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73152" cy="1051560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371600"/>
            <a:ext cx="10058400" cy="105156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813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Artists juggle 5–10 different 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apps for portfolio, invoicing, contracts, social media, CRM — none of them talk to each other.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73152" cy="1051560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2697480"/>
            <a:ext cx="10058400" cy="105156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8072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platforms are expensive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2004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Arternal: $95–195/mo. ArtLogic: $131–409/mo. Priced for galleries, not working artists.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73152" cy="1051560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4023360"/>
            <a:ext cx="10058400" cy="105156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1330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galleries, not artists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452628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tools designed for gallery operations, not individual creators trying to build a career.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platform. Everything artists need.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ArtistOS replaces the patchwork of tools with a single, elegant platform built specifically for independent artists — at a fraction of the cost.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Artist Business Suite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120640" cy="1188720"/>
          </a:xfrm>
          <a:prstGeom prst="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 Create &amp; Manage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Portfolio, Artwork Detail Pages, QR Codes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126480" y="1371600"/>
            <a:ext cx="5120640" cy="1188720"/>
          </a:xfrm>
          <a:prstGeom prst="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550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💰  Sell &amp; Earn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Invoicing, Expense Tracking, Contract Generator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5120640" cy="1188720"/>
          </a:xfrm>
          <a:prstGeom prst="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🖼️  Exhibit &amp; Share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3375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Rooms, Exhibition Planner, Consignment Tracker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2788920"/>
            <a:ext cx="5120640" cy="1188720"/>
          </a:xfrm>
          <a:prstGeom prst="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🤝  Connect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33375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CRM, Commissions, Messaging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206240"/>
            <a:ext cx="5120640" cy="1188720"/>
          </a:xfrm>
          <a:prstGeom prst="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📣  Promote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8680" y="4754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Scheduler, Artist CV, Public Profile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4206240"/>
            <a:ext cx="5120640" cy="1188720"/>
          </a:xfrm>
          <a:prstGeom prst="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🚀  Subscribe &amp; Grow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55080" y="4754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Payments, Plan Gating, Onboarding Wizard, Billing Portal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Features Nobody Else Has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37160" cy="13716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898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Certificate of Authenticity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printable COAs per artwork with artist signature and provenance details.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137160" cy="13716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3898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 CV Generator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art-world CV with exhibitions, education, awards — PDF export ready.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137160" cy="13716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0358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Artwork QR Codes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3474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 QR codes for gallery labels linking directly to artwork detail pages.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3154680"/>
            <a:ext cx="137160" cy="13716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0358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 Subscription Payments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3474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Stripe checkout, tiered plans with feature gating, billing portal, and webhook-driven plan management.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760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26 more features including Viewing Rooms, CRM, Social Scheduler, Onboarding Wizard, Exhibition Planner...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Landscape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2560320" cy="329184"/>
          </a:xfrm>
          <a:prstGeom prst="rect">
            <a:avLst/>
          </a:prstGeom>
          <a:solidFill>
            <a:srgbClr val="0E0C0A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383280" y="1280160"/>
            <a:ext cx="2286000" cy="329184"/>
          </a:xfrm>
          <a:prstGeom prst="rect">
            <a:avLst/>
          </a:prstGeom>
          <a:solidFill>
            <a:srgbClr val="0E0C0A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0" y="1280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0" y="1280160"/>
            <a:ext cx="2286000" cy="329184"/>
          </a:xfrm>
          <a:prstGeom prst="rect">
            <a:avLst/>
          </a:prstGeom>
          <a:solidFill>
            <a:srgbClr val="0E0C0A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0" y="1280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Arternal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55280" y="1280160"/>
            <a:ext cx="2286000" cy="329184"/>
          </a:xfrm>
          <a:prstGeom prst="rect">
            <a:avLst/>
          </a:prstGeom>
          <a:solidFill>
            <a:srgbClr val="0E0C0A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0" y="1280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ArtLogic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1609344"/>
            <a:ext cx="256032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1609344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3280" y="1609344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6093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$0–39/mo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0" y="1609344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16093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$95–195/mo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955280" y="1609344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16093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$131–409/mo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22960" y="1938528"/>
            <a:ext cx="256032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1938528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Rooms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83280" y="1938528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19385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0" y="1938528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19385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($195)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955280" y="1938528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0" y="19385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22960" y="2267712"/>
            <a:ext cx="256032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2267712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Contacts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83280" y="2267712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0" y="22677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0" y="2267712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0" y="22677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955280" y="2267712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55280" y="226771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22960" y="2596896"/>
            <a:ext cx="256032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2596896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83280" y="2596896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669280" y="2596896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955280" y="2596896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5528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22960" y="2926080"/>
            <a:ext cx="256032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2960" y="29260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of Authenticity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383280" y="2926080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83280" y="29260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669280" y="2926080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0" y="29260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955280" y="2926080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0" y="29260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22960" y="3255264"/>
            <a:ext cx="256032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" y="3255264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 CV Generator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383280" y="3255264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0" y="325526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669280" y="3255264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69280" y="325526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955280" y="3255264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955280" y="325526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22960" y="3584448"/>
            <a:ext cx="256032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22960" y="3584448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383280" y="3584448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83280" y="3584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669280" y="3584448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669280" y="3584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955280" y="3584448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55280" y="3584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822960" y="3913632"/>
            <a:ext cx="256032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960" y="3913632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Exhibition Planner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383280" y="3913632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383280" y="39136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669280" y="3913632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669280" y="39136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955280" y="3913632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55280" y="39136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822960" y="4242816"/>
            <a:ext cx="256032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22960" y="4242816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Tools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3383280" y="4242816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83280" y="424281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669280" y="4242816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669280" y="424281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7955280" y="4242816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955280" y="424281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822960" y="4572000"/>
            <a:ext cx="256032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22960" y="4572000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Payments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3383280" y="4572000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383280" y="45720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669280" y="4572000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669280" y="45720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7955280" y="4572000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955280" y="45720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22960" y="4901184"/>
            <a:ext cx="256032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2960" y="4901184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Tracking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3383280" y="4901184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383280" y="49011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669280" y="4901184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669280" y="49011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7955280" y="4901184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55280" y="49011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2960" y="5230368"/>
            <a:ext cx="256032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22960" y="5230368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Marketplace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3383280" y="5230368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83280" y="52303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0" y="5230368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669280" y="52303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7955280" y="5230368"/>
            <a:ext cx="2286000" cy="329184"/>
          </a:xfrm>
          <a:prstGeom prst="rect">
            <a:avLst/>
          </a:prstGeom>
          <a:solidFill>
            <a:srgbClr val="F5F0EB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955280" y="52303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B2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822960" y="5559552"/>
            <a:ext cx="256032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22960" y="5559552"/>
            <a:ext cx="2560320" cy="329184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3383280" y="5559552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383280" y="55595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Artists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5669280" y="5559552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69280" y="55595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Galleries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7955280" y="5559552"/>
            <a:ext cx="2286000" cy="329184"/>
          </a:xfrm>
          <a:prstGeom prst="rect">
            <a:avLst/>
          </a:prstGeom>
          <a:solidFill>
            <a:srgbClr val="FFFFFF"/>
          </a:solidFill>
          <a:ln w="3175">
            <a:solidFill>
              <a:srgbClr val="E8E2D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955280" y="55595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Galleries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383280" cy="3200400"/>
          </a:xfrm>
          <a:prstGeom prst="rect">
            <a:avLst>
              <a:gd name="adj" fmla="val 2857"/>
            </a:avLst>
          </a:prstGeom>
          <a:solidFill>
            <a:srgbClr val="1A1816"/>
          </a:solidFill>
          <a:ln w="9525">
            <a:solidFill>
              <a:srgbClr val="3A35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$0/mo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6012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features, 25 artworks, 3 viewing rooms, 20 contacts. Perfect for getting started.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3383280" cy="3200400"/>
          </a:xfrm>
          <a:prstGeom prst="rect">
            <a:avLst>
              <a:gd name="adj" fmla="val 2857"/>
            </a:avLst>
          </a:prstGeom>
          <a:solidFill>
            <a:srgbClr val="1A1816"/>
          </a:solidFill>
          <a:ln w="9525">
            <a:solidFill>
              <a:srgbClr val="3A35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891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$19/mo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0916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artworks, analytics, social scheduler, exhibitions, consignments — all features unlocked.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383280" cy="3200400"/>
          </a:xfrm>
          <a:prstGeom prst="rect">
            <a:avLst>
              <a:gd name="adj" fmla="val 2857"/>
            </a:avLst>
          </a:prstGeom>
          <a:solidFill>
            <a:srgbClr val="1A1816"/>
          </a:solidFill>
          <a:ln w="9525">
            <a:solidFill>
              <a:srgbClr val="3A35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828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Studio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381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$49/mo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45820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everything, custom domain, white-label options, dedicated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0" y="53035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payments built in. Even our highest tier costs less than competitors’ cheapest plan.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&amp; Ready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468880" cy="1645920"/>
          </a:xfrm>
          <a:prstGeom prst="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Built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29000" y="1463040"/>
            <a:ext cx="2468880" cy="1645920"/>
          </a:xfrm>
          <a:prstGeom prst="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42900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Phases Complete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2468880" cy="1645920"/>
          </a:xfrm>
          <a:prstGeom prst="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2179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Errors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006840" y="1463040"/>
            <a:ext cx="2468880" cy="1645920"/>
          </a:xfrm>
          <a:prstGeom prst="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8E2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6840" y="16459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00684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artistos-mvp.vercel.app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is fully functional with real data. Stripe payments, plan gating, onboarding, portfolio management, invoicing, viewing rooms, CRM, and 22 more features — all working end-to-end.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73152" cy="1005840"/>
          </a:xfrm>
          <a:prstGeom prst="rect">
            <a:avLst/>
          </a:prstGeom>
          <a:solidFill>
            <a:srgbClr val="2D4A35"/>
          </a:solidFill>
          <a:ln w="12700">
            <a:solidFill>
              <a:srgbClr val="2D4A3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371600"/>
            <a:ext cx="504748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481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 18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component-based UI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371600"/>
            <a:ext cx="73152" cy="1005840"/>
          </a:xfrm>
          <a:prstGeom prst="rect">
            <a:avLst/>
          </a:prstGeom>
          <a:solidFill>
            <a:srgbClr val="2D4A35"/>
          </a:solidFill>
          <a:ln w="12700">
            <a:solidFill>
              <a:srgbClr val="2D4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99632" y="1371600"/>
            <a:ext cx="504748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4813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database, auth, storage, real-time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697480"/>
            <a:ext cx="73152" cy="1005840"/>
          </a:xfrm>
          <a:prstGeom prst="rect">
            <a:avLst/>
          </a:prstGeom>
          <a:solidFill>
            <a:srgbClr val="2D4A35"/>
          </a:solidFill>
          <a:ln w="12700">
            <a:solidFill>
              <a:srgbClr val="2D4A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697480"/>
            <a:ext cx="504748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807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Lightning-fast builds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2697480"/>
            <a:ext cx="73152" cy="1005840"/>
          </a:xfrm>
          <a:prstGeom prst="rect">
            <a:avLst/>
          </a:prstGeom>
          <a:solidFill>
            <a:srgbClr val="2D4A35"/>
          </a:solidFill>
          <a:ln w="12700">
            <a:solidFill>
              <a:srgbClr val="2D4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2697480"/>
            <a:ext cx="504748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807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Vercel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4652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edge deployment, automatic CI/CD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73152" cy="1005840"/>
          </a:xfrm>
          <a:prstGeom prst="rect">
            <a:avLst/>
          </a:prstGeom>
          <a:solidFill>
            <a:srgbClr val="2D4A35"/>
          </a:solidFill>
          <a:ln w="12700">
            <a:solidFill>
              <a:srgbClr val="2D4A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4023360"/>
            <a:ext cx="504748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133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Tailwind CSS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styling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26480" y="4023360"/>
            <a:ext cx="73152" cy="1005840"/>
          </a:xfrm>
          <a:prstGeom prst="rect">
            <a:avLst/>
          </a:prstGeom>
          <a:solidFill>
            <a:srgbClr val="2D4A35"/>
          </a:solidFill>
          <a:ln w="12700">
            <a:solidFill>
              <a:srgbClr val="2D4A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9632" y="4023360"/>
            <a:ext cx="5047488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4133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4652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payments, checkout, billing portal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0C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Next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600200"/>
            <a:ext cx="182880" cy="18288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44752" y="1783080"/>
            <a:ext cx="36576" cy="914400"/>
          </a:xfrm>
          <a:prstGeom prst="rect">
            <a:avLst/>
          </a:prstGeom>
          <a:solidFill>
            <a:srgbClr val="E8E2DA"/>
          </a:solidFill>
          <a:ln w="12700">
            <a:solidFill>
              <a:srgbClr val="E8E2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474720" y="1508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launch, 100 artist onboarding, mobile-responsive polish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2697480"/>
            <a:ext cx="182880" cy="18288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44752" y="2880360"/>
            <a:ext cx="36576" cy="914400"/>
          </a:xfrm>
          <a:prstGeom prst="rect">
            <a:avLst/>
          </a:prstGeom>
          <a:solidFill>
            <a:srgbClr val="E8E2DA"/>
          </a:solidFill>
          <a:ln w="12700">
            <a:solidFill>
              <a:srgbClr val="E8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2560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2026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 (React Native), AI artwork descriptions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371600" y="3794760"/>
            <a:ext cx="182880" cy="18288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44752" y="3977640"/>
            <a:ext cx="36576" cy="914400"/>
          </a:xfrm>
          <a:prstGeom prst="rect">
            <a:avLst/>
          </a:prstGeom>
          <a:solidFill>
            <a:srgbClr val="E8E2DA"/>
          </a:solidFill>
          <a:ln w="12700">
            <a:solidFill>
              <a:srgbClr val="E8E2D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657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2026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 partnership program, white-label option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371600" y="4892040"/>
            <a:ext cx="182880" cy="18288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4754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2027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74720" y="4800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0C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expansion, art fair integrations, NFT support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383280" cy="3200400"/>
          </a:xfrm>
          <a:prstGeom prst="rect">
            <a:avLst>
              <a:gd name="adj" fmla="val 2857"/>
            </a:avLst>
          </a:prstGeom>
          <a:solidFill>
            <a:srgbClr val="1A1816"/>
          </a:solidFill>
          <a:ln w="9525">
            <a:solidFill>
              <a:srgbClr val="3A35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54864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Funding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6012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2 engineers, fund marketing, and build 18 months of runway.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383280" cy="3200400"/>
          </a:xfrm>
          <a:prstGeom prst="rect">
            <a:avLst>
              <a:gd name="adj" fmla="val 2857"/>
            </a:avLst>
          </a:prstGeom>
          <a:solidFill>
            <a:srgbClr val="1A1816"/>
          </a:solidFill>
          <a:ln w="9525">
            <a:solidFill>
              <a:srgbClr val="3A35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1554480"/>
            <a:ext cx="3383280" cy="54864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920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Artists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89120" y="2468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Artists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70916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100 artists to validate product-market fit and gather feedback.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383280" cy="3200400"/>
          </a:xfrm>
          <a:prstGeom prst="rect">
            <a:avLst>
              <a:gd name="adj" fmla="val 2857"/>
            </a:avLst>
          </a:prstGeom>
          <a:solidFill>
            <a:srgbClr val="1A1816"/>
          </a:solidFill>
          <a:ln w="9525">
            <a:solidFill>
              <a:srgbClr val="3A35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554480"/>
            <a:ext cx="3383280" cy="54864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1920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 Partners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0" y="2468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Galleries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45820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B2B pilot program for gallery-artist collaboration features.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C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565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265176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0" y="3474720"/>
            <a:ext cx="2130552" cy="18288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artistos-mvp.vercel.app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2976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larry@synergysourceadvisors.com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846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Larry Jones,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passion for the creative community.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ArtistOS Pitch Deck</dc:title>
  <dc:subject>PptxGenJS Presentation</dc:subject>
  <dc:creator>Larry Jones</dc:creator>
  <cp:lastModifiedBy>Larry Jones</cp:lastModifiedBy>
  <cp:revision>1</cp:revision>
  <dcterms:created xsi:type="dcterms:W3CDTF">2026-03-12T14:50:46Z</dcterms:created>
  <dcterms:modified xsi:type="dcterms:W3CDTF">2026-03-12T14:50:46Z</dcterms:modified>
</cp:coreProperties>
</file>