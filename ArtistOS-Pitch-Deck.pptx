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ArtistOS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Creative Business Platform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3749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Larry Jones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artistos-mvp.vercel.app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3152" cy="1051560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371600"/>
            <a:ext cx="1005840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813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Artists juggle 5–10 different tools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apps for portfolio, invoicing, contracts, social media, CRM — none of them talk to each other.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73152" cy="1051560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697480"/>
            <a:ext cx="1005840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0720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platforms are expensive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Arternal: $95–195/mo. ArtLogic: $131–409/mo. Priced for galleries, not working artists.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73152" cy="1051560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4023360"/>
            <a:ext cx="10058400" cy="1051560"/>
          </a:xfrm>
          <a:prstGeom prst="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3308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galleries, not artists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45262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 designed for gallery operations, not individual creators trying to build a career.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Everything artists need.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ArtistOS replaces the patchwork of tools with a single, elegant platform built specifically for independent artists — at a fraction of the cost.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Artist Business Suite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2064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8E2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🎨  Create &amp; Manage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Portfolio, Artwork Detail Pages, QR Codes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12064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8E2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Sell &amp; Earn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920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Invoicing, Expense Tracking, Contract Generator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512064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8E2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🖼️  Exhibit &amp; Share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337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Rooms, Exhibition Planner, Consignment Tracker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788920"/>
            <a:ext cx="512064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8E2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🤝  Connect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3337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CRM, Commissions, Messaging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12064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8E2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📣  Promote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754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Scheduler, Artist CV, Public Profile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4206240"/>
            <a:ext cx="5120640" cy="1188720"/>
          </a:xfrm>
          <a:prstGeom prst="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8E2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 Analyze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4754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Analytics, Emerging Artists, Marketplace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Nobody Else Has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137160" cy="13716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898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 of Authenticity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printable COAs per artwork with artist signature and provenance details.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137160" cy="13716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3898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 CV Generator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828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art-world CV with exhibitions, education, awards — PDF export ready.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137160" cy="13716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35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Artwork QR Codes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QR codes for gallery labels linking directly to artwork detail pages.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3154680"/>
            <a:ext cx="137160" cy="13716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0358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Exhibition Planner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474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shows with interactive checklists, timelines, and artwork selection tools.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7607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19 more features including Viewing Rooms, CRM, Social Scheduler, Consignment Tracker...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280160"/>
            <a:ext cx="2560320" cy="329184"/>
          </a:xfrm>
          <a:prstGeom prst="rect">
            <a:avLst/>
          </a:prstGeom>
          <a:solidFill>
            <a:srgbClr val="0E0C0A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383280" y="1280160"/>
            <a:ext cx="2286000" cy="329184"/>
          </a:xfrm>
          <a:prstGeom prst="rect">
            <a:avLst/>
          </a:prstGeom>
          <a:solidFill>
            <a:srgbClr val="0E0C0A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12801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0" y="1280160"/>
            <a:ext cx="2286000" cy="329184"/>
          </a:xfrm>
          <a:prstGeom prst="rect">
            <a:avLst/>
          </a:prstGeom>
          <a:solidFill>
            <a:srgbClr val="0E0C0A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2801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Arternal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55280" y="1280160"/>
            <a:ext cx="2286000" cy="329184"/>
          </a:xfrm>
          <a:prstGeom prst="rect">
            <a:avLst/>
          </a:prstGeom>
          <a:solidFill>
            <a:srgbClr val="0E0C0A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2801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ArtLogic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1609344"/>
            <a:ext cx="256032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609344"/>
            <a:ext cx="256032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1609344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6093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$0–39/mo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0" y="1609344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6093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$95–195/mo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55280" y="1609344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6093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$131–409/mo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2960" y="1938528"/>
            <a:ext cx="256032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19385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Rooms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1938528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9385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0" y="1938528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9385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($195)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55280" y="1938528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19385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2960" y="2267712"/>
            <a:ext cx="256032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2677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Contacts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2267712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2677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0" y="2267712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22677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955280" y="2267712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22677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" y="2596896"/>
            <a:ext cx="256032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596896"/>
            <a:ext cx="256032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83280" y="2596896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25968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0" y="2596896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0" y="25968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955280" y="2596896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0" y="25968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2960" y="2926080"/>
            <a:ext cx="256032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29260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Authenticity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83280" y="2926080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2926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669280" y="2926080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0" y="2926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955280" y="2926080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55280" y="29260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22960" y="3255264"/>
            <a:ext cx="256032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2960" y="3255264"/>
            <a:ext cx="256032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CV Generator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383280" y="3255264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8328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669280" y="3255264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955280" y="3255264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55280" y="32552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22960" y="3584448"/>
            <a:ext cx="256032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2960" y="35844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383280" y="3584448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83280" y="35844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669280" y="3584448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69280" y="35844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955280" y="3584448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55280" y="35844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22960" y="3913632"/>
            <a:ext cx="256032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2960" y="39136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Exhibition Planner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383280" y="3913632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83280" y="39136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669280" y="3913632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69280" y="39136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955280" y="3913632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55280" y="39136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822960" y="4242816"/>
            <a:ext cx="256032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2960" y="4242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Tools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383280" y="4242816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83280" y="42428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669280" y="4242816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69280" y="42428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955280" y="4242816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955280" y="42428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822960" y="4572000"/>
            <a:ext cx="256032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22960" y="45720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383280" y="4572000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83280" y="45720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5669280" y="4572000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669280" y="45720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955280" y="4572000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955280" y="45720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822960" y="4901184"/>
            <a:ext cx="256032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22960" y="49011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Marketplace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383280" y="4901184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383280" y="49011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5669280" y="4901184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669280" y="49011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7955280" y="4901184"/>
            <a:ext cx="228600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55280" y="49011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822960" y="5230368"/>
            <a:ext cx="256032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2960" y="52303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3383280" y="5230368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383280" y="52303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5669280" y="5230368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669280" y="52303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Galleries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7955280" y="5230368"/>
            <a:ext cx="2286000" cy="329184"/>
          </a:xfrm>
          <a:prstGeom prst="rect">
            <a:avLst/>
          </a:prstGeom>
          <a:solidFill>
            <a:srgbClr val="F5F0EB"/>
          </a:solidFill>
          <a:ln w="3175">
            <a:solidFill>
              <a:srgbClr val="E8E2D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955280" y="52303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Galleries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3200400"/>
          </a:xfrm>
          <a:prstGeom prst="rect">
            <a:avLst>
              <a:gd name="adj" fmla="val 2857"/>
            </a:avLst>
          </a:prstGeom>
          <a:solidFill>
            <a:srgbClr val="1A1816"/>
          </a:solidFill>
          <a:ln w="9525">
            <a:solidFill>
              <a:srgbClr val="3A35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$0/mo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6012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features, 25 artworks, 3 viewing rooms. Perfect for getting started.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383280" cy="3200400"/>
          </a:xfrm>
          <a:prstGeom prst="rect">
            <a:avLst>
              <a:gd name="adj" fmla="val 2857"/>
            </a:avLst>
          </a:prstGeom>
          <a:solidFill>
            <a:srgbClr val="1A1816"/>
          </a:solidFill>
          <a:ln w="9525">
            <a:solidFill>
              <a:srgbClr val="3A35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2468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$19/mo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70916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artworks, all features, analytics dashboard, priority support.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383280" cy="3200400"/>
          </a:xfrm>
          <a:prstGeom prst="rect">
            <a:avLst>
              <a:gd name="adj" fmla="val 2857"/>
            </a:avLst>
          </a:prstGeom>
          <a:solidFill>
            <a:srgbClr val="1A1816"/>
          </a:solidFill>
          <a:ln w="9525">
            <a:solidFill>
              <a:srgbClr val="3A35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828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38160" y="2468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$39/mo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45820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 + custom domain, white-label options, dedicated support.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0" y="5303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our highest tier costs less than competitors’ cheapest plan.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&amp; Ready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46888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8E2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Built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246888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8E2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42900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Phases Complete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246888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8E2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Errors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06840" y="1463040"/>
            <a:ext cx="246888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8E2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00684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artistos-mvp.vercel.app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is fully functional with real data. Portfolio management, invoicing, viewing rooms, CRM, social scheduler, and 17 more features — all working end-to-end.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3152" cy="1005840"/>
          </a:xfrm>
          <a:prstGeom prst="rect">
            <a:avLst/>
          </a:prstGeom>
          <a:solidFill>
            <a:srgbClr val="2D4A35"/>
          </a:solidFill>
          <a:ln w="12700">
            <a:solidFill>
              <a:srgbClr val="2D4A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371600"/>
            <a:ext cx="504748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component-based UI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73152" cy="1005840"/>
          </a:xfrm>
          <a:prstGeom prst="rect">
            <a:avLst/>
          </a:prstGeom>
          <a:solidFill>
            <a:srgbClr val="2D4A35"/>
          </a:solidFill>
          <a:ln w="12700">
            <a:solidFill>
              <a:srgbClr val="2D4A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371600"/>
            <a:ext cx="504748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481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database, auth, storage, real-time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73152" cy="1005840"/>
          </a:xfrm>
          <a:prstGeom prst="rect">
            <a:avLst/>
          </a:prstGeom>
          <a:solidFill>
            <a:srgbClr val="2D4A35"/>
          </a:solidFill>
          <a:ln w="12700">
            <a:solidFill>
              <a:srgbClr val="2D4A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697480"/>
            <a:ext cx="504748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807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 builds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697480"/>
            <a:ext cx="73152" cy="1005840"/>
          </a:xfrm>
          <a:prstGeom prst="rect">
            <a:avLst/>
          </a:prstGeom>
          <a:solidFill>
            <a:srgbClr val="2D4A35"/>
          </a:solidFill>
          <a:ln w="12700">
            <a:solidFill>
              <a:srgbClr val="2D4A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2697480"/>
            <a:ext cx="504748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807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edge deployment, automatic CI/CD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73152" cy="1005840"/>
          </a:xfrm>
          <a:prstGeom prst="rect">
            <a:avLst/>
          </a:prstGeom>
          <a:solidFill>
            <a:srgbClr val="2D4A35"/>
          </a:solidFill>
          <a:ln w="12700">
            <a:solidFill>
              <a:srgbClr val="2D4A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023360"/>
            <a:ext cx="504748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133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4023360"/>
            <a:ext cx="73152" cy="1005840"/>
          </a:xfrm>
          <a:prstGeom prst="rect">
            <a:avLst/>
          </a:prstGeom>
          <a:solidFill>
            <a:srgbClr val="2D4A35"/>
          </a:solidFill>
          <a:ln w="12700">
            <a:solidFill>
              <a:srgbClr val="2D4A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4023360"/>
            <a:ext cx="504748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2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133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 Level Security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4652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data isolation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0C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600200"/>
            <a:ext cx="182880" cy="18288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44752" y="1783080"/>
            <a:ext cx="36576" cy="914400"/>
          </a:xfrm>
          <a:prstGeom prst="rect">
            <a:avLst/>
          </a:prstGeom>
          <a:solidFill>
            <a:srgbClr val="E8E2DA"/>
          </a:solidFill>
          <a:ln w="12700">
            <a:solidFill>
              <a:srgbClr val="E8E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74720" y="1508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 integration, mobile-responsive polish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697480"/>
            <a:ext cx="182880" cy="18288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44752" y="2880360"/>
            <a:ext cx="36576" cy="914400"/>
          </a:xfrm>
          <a:prstGeom prst="rect">
            <a:avLst/>
          </a:prstGeom>
          <a:solidFill>
            <a:srgbClr val="E8E2DA"/>
          </a:solidFill>
          <a:ln w="12700">
            <a:solidFill>
              <a:srgbClr val="E8E2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(React Native), AI artwork descriptions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794760"/>
            <a:ext cx="182880" cy="18288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4752" y="3977640"/>
            <a:ext cx="36576" cy="914400"/>
          </a:xfrm>
          <a:prstGeom prst="rect">
            <a:avLst/>
          </a:prstGeom>
          <a:solidFill>
            <a:srgbClr val="E8E2DA"/>
          </a:solidFill>
          <a:ln w="12700">
            <a:solidFill>
              <a:srgbClr val="E8E2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2026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partnership program, white-label option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4892040"/>
            <a:ext cx="182880" cy="18288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754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4800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0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expansion, art fair integrations, NFT support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383280" cy="3200400"/>
          </a:xfrm>
          <a:prstGeom prst="rect">
            <a:avLst>
              <a:gd name="adj" fmla="val 2857"/>
            </a:avLst>
          </a:prstGeom>
          <a:solidFill>
            <a:srgbClr val="1A1816"/>
          </a:solidFill>
          <a:ln w="9525">
            <a:solidFill>
              <a:srgbClr val="3A35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54864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2 engineers, fund marketing, and build 18 months of runway.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383280" cy="3200400"/>
          </a:xfrm>
          <a:prstGeom prst="rect">
            <a:avLst>
              <a:gd name="adj" fmla="val 2857"/>
            </a:avLst>
          </a:prstGeom>
          <a:solidFill>
            <a:srgbClr val="1A1816"/>
          </a:solidFill>
          <a:ln w="9525">
            <a:solidFill>
              <a:srgbClr val="3A35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554480"/>
            <a:ext cx="3383280" cy="54864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Artists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Artists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0916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100 artists to validate product-market fit and gather feedback.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383280" cy="3200400"/>
          </a:xfrm>
          <a:prstGeom prst="rect">
            <a:avLst>
              <a:gd name="adj" fmla="val 2857"/>
            </a:avLst>
          </a:prstGeom>
          <a:solidFill>
            <a:srgbClr val="1A1816"/>
          </a:solidFill>
          <a:ln w="9525">
            <a:solidFill>
              <a:srgbClr val="3A35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554480"/>
            <a:ext cx="3383280" cy="54864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Partners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24688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Galleries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458200" y="3383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B2B pilot program for gallery-artist collaboration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C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565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0" y="3474720"/>
            <a:ext cx="2130552" cy="18288"/>
          </a:xfrm>
          <a:prstGeom prst="rect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840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artistos-mvp.vercel.app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2976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larrywade.art@gmail.com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Larry Jones,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5760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passion for the creative community.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ArtistOS Pitch Deck</dc:title>
  <dc:subject>PptxGenJS Presentation</dc:subject>
  <dc:creator>Larry Jones</dc:creator>
  <cp:lastModifiedBy>Larry Jones</cp:lastModifiedBy>
  <cp:revision>1</cp:revision>
  <dcterms:created xsi:type="dcterms:W3CDTF">2026-03-12T05:36:54Z</dcterms:created>
  <dcterms:modified xsi:type="dcterms:W3CDTF">2026-03-12T05:36:54Z</dcterms:modified>
</cp:coreProperties>
</file>