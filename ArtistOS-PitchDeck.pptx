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rtistos-mvp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artistos-mvp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5651D"/>
          </a:solidFill>
          <a:ln/>
        </p:spPr>
      </p:sp>
      <p:sp>
        <p:nvSpPr>
          <p:cNvPr id="3" name="Shape 1"/>
          <p:cNvSpPr/>
          <p:nvPr/>
        </p:nvSpPr>
        <p:spPr>
          <a:xfrm>
            <a:off x="4160520" y="1097280"/>
            <a:ext cx="822960" cy="822960"/>
          </a:xfrm>
          <a:prstGeom prst="ellipse">
            <a:avLst/>
          </a:prstGeom>
          <a:solidFill>
            <a:srgbClr val="B5651D">
              <a:alpha val="8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ArtistOS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Your Art Practice Like a Business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Investment Deck  — 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B5651D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artistos-mvp.vercel.app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Artists are running businesses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business tools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02920" cy="502920"/>
          </a:xfrm>
          <a:prstGeom prst="rect">
            <a:avLst>
              <a:gd name="adj" fmla="val 9091"/>
            </a:avLst>
          </a:prstGeom>
          <a:solidFill>
            <a:srgbClr val="B5651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9476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Portfolios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25856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Spreadsheets, folders, emails — no single source of truth for inventory, pricing, or provenance.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502920" cy="502920"/>
          </a:xfrm>
          <a:prstGeom prst="rect">
            <a:avLst>
              <a:gd name="adj" fmla="val 9091"/>
            </a:avLst>
          </a:prstGeom>
          <a:solidFill>
            <a:srgbClr val="B5651D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9535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Pricing Guidance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2644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Artists underprice by 30–50% on average. No data, no benchmarks, no market context.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502920" cy="502920"/>
          </a:xfrm>
          <a:prstGeom prst="rect">
            <a:avLst>
              <a:gd name="adj" fmla="val 9091"/>
            </a:avLst>
          </a:prstGeom>
          <a:solidFill>
            <a:srgbClr val="B5651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9593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Commission Revenue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27024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pipeline structure means dropped leads, missed deadlines, and unpaid invoices.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all-in-one platform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artists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760720" y="822960"/>
            <a:ext cx="2926080" cy="914400"/>
          </a:xfrm>
          <a:prstGeom prst="rect">
            <a:avLst/>
          </a:prstGeom>
          <a:solidFill>
            <a:srgbClr val="B5651D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0" y="868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</a:t>
            </a:r>
            <a:pPr indent="0" marL="0">
              <a:buNone/>
            </a:pPr>
            <a:r>
              <a:rPr lang="en-US" sz="13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Shopify</a:t>
            </a:r>
            <a:pPr indent="0" marL="0">
              <a:buNone/>
            </a:pPr>
            <a:r>
              <a:rPr lang="en-US" sz="1300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meets </a:t>
            </a:r>
            <a:pPr indent="0" marL="0">
              <a:buNone/>
            </a:pPr>
            <a:r>
              <a:rPr lang="en-US" sz="13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Honeybook</a:t>
            </a:r>
            <a:pPr indent="0" marL="0">
              <a:buNone/>
            </a:pPr>
            <a:r>
              <a:rPr lang="en-US" sz="1300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built for the art world.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03120"/>
            <a:ext cx="2560320" cy="54864"/>
          </a:xfrm>
          <a:prstGeom prst="rect">
            <a:avLst/>
          </a:prstGeom>
          <a:solidFill>
            <a:srgbClr val="B5651D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🎨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&amp; Inventory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Upload, catalog, price, and describe artworks with AI assistance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210312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29000" y="2103120"/>
            <a:ext cx="2560320" cy="54864"/>
          </a:xfrm>
          <a:prstGeom prst="rect">
            <a:avLst/>
          </a:prstGeom>
          <a:solidFill>
            <a:srgbClr val="B5651D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611880" y="2926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Command Center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11880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Invoices, expenses, contracts, and revenue tracking in one place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10312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2103120"/>
            <a:ext cx="2560320" cy="54864"/>
          </a:xfrm>
          <a:prstGeom prst="rect">
            <a:avLst/>
          </a:prstGeom>
          <a:solidFill>
            <a:srgbClr val="B5651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400800" y="2926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Intelligence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descriptions, pricing guidance, and bio generation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an artist needs, one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64592" cy="164592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5544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Management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19202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uploads, AI descriptions, AI price suggestions, provenance tracking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627632"/>
            <a:ext cx="164592" cy="164592"/>
          </a:xfrm>
          <a:prstGeom prst="ellipse">
            <a:avLst/>
          </a:prstGeom>
          <a:solidFill>
            <a:srgbClr val="2D4A35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0" y="15544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Hub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49040" y="19202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with PDF export, expense tracking, revenue charts, CSV export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627632"/>
            <a:ext cx="164592" cy="164592"/>
          </a:xfrm>
          <a:prstGeom prst="ellipse">
            <a:avLst/>
          </a:prstGeom>
          <a:solidFill>
            <a:srgbClr val="C4705A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5544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Pipeline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19202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CRM with status tracking, deadlines, progress bars, budgets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273552"/>
            <a:ext cx="164592" cy="164592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2004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Tools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35661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Artwork descriptions, pricing intelligence, professional bio generator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29000" y="3273552"/>
            <a:ext cx="164592" cy="164592"/>
          </a:xfrm>
          <a:prstGeom prst="ellipse">
            <a:avLst/>
          </a:prstGeom>
          <a:solidFill>
            <a:srgbClr val="2D4A35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32004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Rooms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49040" y="35661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shareable galleries for collectors with QR codes and email invites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273552"/>
            <a:ext cx="164592" cy="164592"/>
          </a:xfrm>
          <a:prstGeom prst="ellipse">
            <a:avLst/>
          </a:prstGeom>
          <a:solidFill>
            <a:srgbClr val="C4705A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2004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Analytics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37960" y="35661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value, sell-through rates, medium breakdown, trend analysis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mockup. A working product.</a:t>
            </a:r>
            <a:endParaRPr lang="en-US" sz="30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6400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artistos-mvp.vercel.app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828800" cy="1463040"/>
          </a:xfrm>
          <a:prstGeom prst="rect">
            <a:avLst/>
          </a:prstGeom>
          <a:solidFill>
            <a:srgbClr val="B5651D">
              <a:alpha val="1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94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Built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0" y="2103120"/>
            <a:ext cx="1828800" cy="1463040"/>
          </a:xfrm>
          <a:prstGeom prst="rect">
            <a:avLst/>
          </a:prstGeom>
          <a:solidFill>
            <a:srgbClr val="B5651D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2194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74320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Tiers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2103120"/>
            <a:ext cx="1828800" cy="1463040"/>
          </a:xfrm>
          <a:prstGeom prst="rect">
            <a:avLst/>
          </a:prstGeom>
          <a:solidFill>
            <a:srgbClr val="B5651D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194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84632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949440" y="2103120"/>
            <a:ext cx="1828800" cy="1463040"/>
          </a:xfrm>
          <a:prstGeom prst="rect">
            <a:avLst/>
          </a:prstGeom>
          <a:solidFill>
            <a:srgbClr val="B5651D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2194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PWA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94944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Ready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4251960"/>
            <a:ext cx="1143000" cy="411480"/>
          </a:xfrm>
          <a:prstGeom prst="rect">
            <a:avLst/>
          </a:prstGeom>
          <a:solidFill>
            <a:srgbClr val="B5651D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2519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965960" y="4251960"/>
            <a:ext cx="1143000" cy="411480"/>
          </a:xfrm>
          <a:prstGeom prst="rect">
            <a:avLst/>
          </a:prstGeom>
          <a:solidFill>
            <a:srgbClr val="B5651D">
              <a:alpha val="1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1965960" y="42519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91840" y="4251960"/>
            <a:ext cx="1143000" cy="411480"/>
          </a:xfrm>
          <a:prstGeom prst="rect">
            <a:avLst/>
          </a:prstGeom>
          <a:solidFill>
            <a:srgbClr val="B5651D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291840" y="42519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4251960"/>
            <a:ext cx="1143000" cy="411480"/>
          </a:xfrm>
          <a:prstGeom prst="rect">
            <a:avLst/>
          </a:prstGeom>
          <a:solidFill>
            <a:srgbClr val="B5651D">
              <a:alpha val="1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2519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0" y="4251960"/>
            <a:ext cx="1143000" cy="411480"/>
          </a:xfrm>
          <a:prstGeom prst="rect">
            <a:avLst/>
          </a:prstGeom>
          <a:solidFill>
            <a:srgbClr val="B5651D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42519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269480" y="4251960"/>
            <a:ext cx="1143000" cy="411480"/>
          </a:xfrm>
          <a:prstGeom prst="rect">
            <a:avLst/>
          </a:prstGeom>
          <a:solidFill>
            <a:srgbClr val="B5651D">
              <a:alpha val="1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7269480" y="42519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massive, underserved market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1554480"/>
            <a:ext cx="2377440" cy="2377440"/>
          </a:xfrm>
          <a:prstGeom prst="ellipse">
            <a:avLst/>
          </a:prstGeom>
          <a:solidFill>
            <a:srgbClr val="B5651D">
              <a:alpha val="15000"/>
            </a:srgbClr>
          </a:solidFill>
          <a:ln w="25400">
            <a:solidFill>
              <a:srgbClr val="B565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240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97280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$64B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9728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Creative Economy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0" y="1828800"/>
            <a:ext cx="1828800" cy="1828800"/>
          </a:xfrm>
          <a:prstGeom prst="ellipse">
            <a:avLst/>
          </a:prstGeom>
          <a:solidFill>
            <a:srgbClr val="B5651D">
              <a:alpha val="15000"/>
            </a:srgbClr>
          </a:solidFill>
          <a:ln w="25400">
            <a:solidFill>
              <a:srgbClr val="B5651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2240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$8.2B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8404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2.3M Professional Artists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2057400"/>
            <a:ext cx="1371600" cy="1371600"/>
          </a:xfrm>
          <a:prstGeom prst="ellipse">
            <a:avLst/>
          </a:prstGeom>
          <a:solidFill>
            <a:srgbClr val="B5651D">
              <a:alpha val="15000"/>
            </a:srgbClr>
          </a:solidFill>
          <a:ln w="25400">
            <a:solidFill>
              <a:srgbClr val="B565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0" y="2514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$82M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21792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Artists at $49/mo avg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160520"/>
            <a:ext cx="7863840" cy="54864"/>
          </a:xfrm>
          <a:prstGeom prst="rect">
            <a:avLst/>
          </a:prstGeom>
          <a:solidFill>
            <a:srgbClr val="B5651D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062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</a:t>
            </a:r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market YoY growth    •    </a:t>
            </a:r>
            <a:pPr indent="0" marL="0">
              <a:buNone/>
            </a:pPr>
            <a:r>
              <a:rPr lang="en-US" sz="14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 </a:t>
            </a:r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artists need better business tools    •    </a:t>
            </a:r>
            <a:pPr indent="0" marL="0">
              <a:buNone/>
            </a:pPr>
            <a:r>
              <a:rPr lang="en-US" sz="14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2.3M </a:t>
            </a:r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artists in the US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Freemium SaaS with clear upgrade path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560320" cy="3154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651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artworks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0358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viewing rooms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41985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invoicing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80390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generator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1508760"/>
            <a:ext cx="2560320" cy="3154680"/>
          </a:xfrm>
          <a:prstGeom prst="rect">
            <a:avLst/>
          </a:prstGeom>
          <a:solidFill>
            <a:srgbClr val="B5651D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0" y="1691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$19/mo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57600" y="2651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artworks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30358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tools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41985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analytics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380390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scheduler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508760"/>
            <a:ext cx="2560320" cy="3154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46520" y="1691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46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$49/mo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46520" y="2651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everything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46520" y="30358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 features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341985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Exhibition planner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46520" y="380390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800600"/>
            <a:ext cx="7863840" cy="0"/>
          </a:xfrm>
          <a:prstGeom prst="rect">
            <a:avLst/>
          </a:prstGeom>
          <a:solidFill>
            <a:srgbClr val="F2EDE6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only platform built for artists, by design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514600" y="1554480"/>
            <a:ext cx="1188720" cy="502920"/>
          </a:xfrm>
          <a:prstGeom prst="rect">
            <a:avLst/>
          </a:prstGeom>
          <a:solidFill>
            <a:srgbClr val="B5651D"/>
          </a:solidFill>
          <a:ln/>
        </p:spPr>
      </p:sp>
      <p:sp>
        <p:nvSpPr>
          <p:cNvPr id="6" name="Text 4"/>
          <p:cNvSpPr/>
          <p:nvPr/>
        </p:nvSpPr>
        <p:spPr>
          <a:xfrm>
            <a:off x="2514600" y="1554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ArtistOS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03320" y="1554480"/>
            <a:ext cx="1188720" cy="502920"/>
          </a:xfrm>
          <a:prstGeom prst="rect">
            <a:avLst/>
          </a:prstGeom>
          <a:solidFill>
            <a:srgbClr val="F2EDE6"/>
          </a:solidFill>
          <a:ln/>
        </p:spPr>
      </p:sp>
      <p:sp>
        <p:nvSpPr>
          <p:cNvPr id="8" name="Text 6"/>
          <p:cNvSpPr/>
          <p:nvPr/>
        </p:nvSpPr>
        <p:spPr>
          <a:xfrm>
            <a:off x="3703320" y="1554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Artwork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92040" y="1554480"/>
            <a:ext cx="1188720" cy="502920"/>
          </a:xfrm>
          <a:prstGeom prst="rect">
            <a:avLst/>
          </a:prstGeom>
          <a:solidFill>
            <a:srgbClr val="F2EDE6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554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Honeybook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1554480"/>
            <a:ext cx="1188720" cy="502920"/>
          </a:xfrm>
          <a:prstGeom prst="rect">
            <a:avLst/>
          </a:prstGeom>
          <a:solidFill>
            <a:srgbClr val="F2EDE6"/>
          </a:solidFill>
          <a:ln/>
        </p:spPr>
      </p:sp>
      <p:sp>
        <p:nvSpPr>
          <p:cNvPr id="12" name="Text 10"/>
          <p:cNvSpPr/>
          <p:nvPr/>
        </p:nvSpPr>
        <p:spPr>
          <a:xfrm>
            <a:off x="6080760" y="1554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Artsy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269480" y="1554480"/>
            <a:ext cx="1188720" cy="502920"/>
          </a:xfrm>
          <a:prstGeom prst="rect">
            <a:avLst/>
          </a:prstGeom>
          <a:solidFill>
            <a:srgbClr val="F2EDE6"/>
          </a:solidFill>
          <a:ln/>
        </p:spPr>
      </p:sp>
      <p:sp>
        <p:nvSpPr>
          <p:cNvPr id="14" name="Text 12"/>
          <p:cNvSpPr/>
          <p:nvPr/>
        </p:nvSpPr>
        <p:spPr>
          <a:xfrm>
            <a:off x="7269480" y="1554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Mgmt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514600" y="2103120"/>
            <a:ext cx="1188720" cy="411480"/>
          </a:xfrm>
          <a:prstGeom prst="rect">
            <a:avLst/>
          </a:prstGeom>
          <a:solidFill>
            <a:srgbClr val="B5651D">
              <a:alpha val="8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2514600" y="21031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03320" y="21031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92040" y="21031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80760" y="21031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269480" y="21031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2514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14600" y="2514600"/>
            <a:ext cx="1188720" cy="411480"/>
          </a:xfrm>
          <a:prstGeom prst="rect">
            <a:avLst/>
          </a:prstGeom>
          <a:solidFill>
            <a:srgbClr val="B5651D">
              <a:alpha val="8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251460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70332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9204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8076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26948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Tracking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514600" y="2926080"/>
            <a:ext cx="1188720" cy="411480"/>
          </a:xfrm>
          <a:prstGeom prst="rect">
            <a:avLst/>
          </a:prstGeom>
          <a:solidFill>
            <a:srgbClr val="B5651D">
              <a:alpha val="8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2514600" y="29260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03320" y="29260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29260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80760" y="29260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269480" y="29260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" y="3337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CRM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514600" y="3337560"/>
            <a:ext cx="1188720" cy="411480"/>
          </a:xfrm>
          <a:prstGeom prst="rect">
            <a:avLst/>
          </a:prstGeom>
          <a:solidFill>
            <a:srgbClr val="B5651D">
              <a:alpha val="8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2514600" y="33375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703320" y="33375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892040" y="33375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080760" y="33375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269480" y="33375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" y="3749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514600" y="3749040"/>
            <a:ext cx="1188720" cy="411480"/>
          </a:xfrm>
          <a:prstGeom prst="rect">
            <a:avLst/>
          </a:prstGeom>
          <a:solidFill>
            <a:srgbClr val="B5651D">
              <a:alpha val="8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2514600" y="37490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703320" y="37490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892040" y="37490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080760" y="37490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269480" y="37490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0292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Art-Specific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514600" y="4160520"/>
            <a:ext cx="1188720" cy="411480"/>
          </a:xfrm>
          <a:prstGeom prst="rect">
            <a:avLst/>
          </a:prstGeom>
          <a:solidFill>
            <a:srgbClr val="B5651D">
              <a:alpha val="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2514600" y="41605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3703320" y="41605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892040" y="41605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6080760" y="41605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269480" y="41605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02920" y="45720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514600" y="4572000"/>
            <a:ext cx="1188720" cy="411480"/>
          </a:xfrm>
          <a:prstGeom prst="rect">
            <a:avLst/>
          </a:prstGeom>
          <a:solidFill>
            <a:srgbClr val="B5651D">
              <a:alpha val="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2514600" y="45720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Free–$49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3703320" y="45720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$8/mo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4892040" y="45720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$19/mo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080760" y="45720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 only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69480" y="45720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502920" y="2103120"/>
            <a:ext cx="7955280" cy="0"/>
          </a:xfrm>
          <a:prstGeom prst="line">
            <a:avLst/>
          </a:prstGeom>
          <a:noFill/>
          <a:ln w="6350">
            <a:solidFill>
              <a:srgbClr val="F2ED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02920" y="2514600"/>
            <a:ext cx="7955280" cy="0"/>
          </a:xfrm>
          <a:prstGeom prst="line">
            <a:avLst/>
          </a:prstGeom>
          <a:noFill/>
          <a:ln w="6350">
            <a:solidFill>
              <a:srgbClr val="F2EDE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2920" y="2926080"/>
            <a:ext cx="7955280" cy="0"/>
          </a:xfrm>
          <a:prstGeom prst="line">
            <a:avLst/>
          </a:prstGeom>
          <a:noFill/>
          <a:ln w="6350">
            <a:solidFill>
              <a:srgbClr val="F2EDE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02920" y="3337560"/>
            <a:ext cx="7955280" cy="0"/>
          </a:xfrm>
          <a:prstGeom prst="line">
            <a:avLst/>
          </a:prstGeom>
          <a:noFill/>
          <a:ln w="6350">
            <a:solidFill>
              <a:srgbClr val="F2EDE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02920" y="3749040"/>
            <a:ext cx="7955280" cy="0"/>
          </a:xfrm>
          <a:prstGeom prst="line">
            <a:avLst/>
          </a:prstGeom>
          <a:noFill/>
          <a:ln w="6350">
            <a:solidFill>
              <a:srgbClr val="F2ED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02920" y="4160520"/>
            <a:ext cx="7955280" cy="0"/>
          </a:xfrm>
          <a:prstGeom prst="line">
            <a:avLst/>
          </a:prstGeom>
          <a:noFill/>
          <a:ln w="6350">
            <a:solidFill>
              <a:srgbClr val="F2EDE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02920" y="4572000"/>
            <a:ext cx="7955280" cy="0"/>
          </a:xfrm>
          <a:prstGeom prst="line">
            <a:avLst/>
          </a:prstGeom>
          <a:noFill/>
          <a:ln w="6350">
            <a:solidFill>
              <a:srgbClr val="F2EDE6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MILESTONES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and launched in record time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256032" cy="256032"/>
          </a:xfrm>
          <a:prstGeom prst="ellipse">
            <a:avLst/>
          </a:prstGeom>
          <a:solidFill>
            <a:srgbClr val="4A7A5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09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15544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MVP live and functional (28 pages, 11 components)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256032" cy="256032"/>
          </a:xfrm>
          <a:prstGeom prst="ellipse">
            <a:avLst/>
          </a:prstGeom>
          <a:solidFill>
            <a:srgbClr val="4A7A5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386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233172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payments integrated — 3 subscription tiers active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182112"/>
            <a:ext cx="256032" cy="256032"/>
          </a:xfrm>
          <a:prstGeom prst="ellipse">
            <a:avLst/>
          </a:prstGeom>
          <a:solidFill>
            <a:srgbClr val="4A7A5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163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10896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powered by OpenAI (4 distinct tools)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959352"/>
            <a:ext cx="256032" cy="256032"/>
          </a:xfrm>
          <a:prstGeom prst="ellipse">
            <a:avLst/>
          </a:prstGeom>
          <a:solidFill>
            <a:srgbClr val="4A7A5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41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38862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infrastructure deployed (Resend + fallback)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627632"/>
            <a:ext cx="256032" cy="256032"/>
          </a:xfrm>
          <a:prstGeom prst="ellipse">
            <a:avLst/>
          </a:prstGeom>
          <a:solidFill>
            <a:srgbClr val="4A7A57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609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66360" y="15544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optimized with Open Graph, Twitter Cards, JSON-LD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404872"/>
            <a:ext cx="256032" cy="256032"/>
          </a:xfrm>
          <a:prstGeom prst="ellipse">
            <a:avLst/>
          </a:prstGeom>
          <a:solidFill>
            <a:srgbClr val="4A7A57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2386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233172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PWA-ready — installable on mobile devices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54880" y="3182112"/>
            <a:ext cx="256032" cy="256032"/>
          </a:xfrm>
          <a:prstGeom prst="ellipse">
            <a:avLst/>
          </a:prstGeom>
          <a:solidFill>
            <a:srgbClr val="4A7A57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3163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66360" y="310896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analytics dashboard with portfolio intelligence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3959352"/>
            <a:ext cx="256032" cy="256032"/>
          </a:xfrm>
          <a:prstGeom prst="ellipse">
            <a:avLst/>
          </a:prstGeom>
          <a:solidFill>
            <a:srgbClr val="4A7A57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3941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38862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pages (Terms of Service, Privacy Policy)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Community-first growth engine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56032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2560320" cy="54864"/>
          </a:xfrm>
          <a:prstGeom prst="rect">
            <a:avLst/>
          </a:prstGeom>
          <a:solidFill>
            <a:srgbClr val="B565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Community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r/artbusiness (500K+)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art hashtags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programs &amp; art schools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business YouTube content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554480"/>
            <a:ext cx="256032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554480"/>
            <a:ext cx="2560320" cy="54864"/>
          </a:xfrm>
          <a:prstGeom prst="rect">
            <a:avLst/>
          </a:prstGeom>
          <a:solidFill>
            <a:srgbClr val="2D4A35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17373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D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11880" y="2011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Partnerships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1188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50 galleries as referral partners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1188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fair presence &amp; sponsorships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11880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 referral program (free Pro month)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1188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supply brand partnerships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1554480"/>
            <a:ext cx="256032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1554480"/>
            <a:ext cx="2560320" cy="54864"/>
          </a:xfrm>
          <a:prstGeom prst="rect">
            <a:avLst/>
          </a:prstGeom>
          <a:solidFill>
            <a:srgbClr val="C4705A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17373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0" y="2011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Marketplace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artists with collectors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transaction fee on sales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Curator-led collections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7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expansion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PROJECTIONS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Clear path to $1.2M ARR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60320" cy="2194560"/>
          </a:xfrm>
          <a:prstGeom prst="rect">
            <a:avLst/>
          </a:prstGeom>
          <a:solidFill>
            <a:srgbClr val="B5651D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8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users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acquisition focus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growth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645920"/>
            <a:ext cx="2560320" cy="2194560"/>
          </a:xfrm>
          <a:prstGeom prst="rect">
            <a:avLst/>
          </a:prstGeom>
          <a:solidFill>
            <a:srgbClr val="B5651D">
              <a:alpha val="12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1783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$180K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657600" y="2560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0" y="28803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8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paid users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optimization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$30/mo blended ARPU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645920"/>
            <a:ext cx="2560320" cy="2194560"/>
          </a:xfrm>
          <a:prstGeom prst="rect">
            <a:avLst/>
          </a:prstGeom>
          <a:solidFill>
            <a:srgbClr val="B5651D">
              <a:alpha val="1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1783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4652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$1.2M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446520" y="2560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46520" y="28803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8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 paid users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revenue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expansion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revenue streams: Marketplace transaction fees (5–8%) • Premium AI features • Gallery enterprise plans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Builder-founder with domain expertise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73152" cy="3017520"/>
          </a:xfrm>
          <a:prstGeom prst="rect">
            <a:avLst/>
          </a:prstGeom>
          <a:solidFill>
            <a:srgbClr val="B5651D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1828800"/>
            <a:ext cx="822960" cy="822960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LJ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057400" y="1874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Larry Jones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057400" y="2194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8346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at Synergy Source Advisors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321868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understanding of creative economy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360273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full MVP from concept to live product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98678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Passion for empowering creative professionals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1554480"/>
            <a:ext cx="3840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554480"/>
            <a:ext cx="73152" cy="3017520"/>
          </a:xfrm>
          <a:prstGeom prst="rect">
            <a:avLst/>
          </a:prstGeom>
          <a:solidFill>
            <a:srgbClr val="2D4A35"/>
          </a:solidFill>
          <a:ln/>
        </p:spPr>
      </p:sp>
      <p:sp>
        <p:nvSpPr>
          <p:cNvPr id="16" name="Text 14"/>
          <p:cNvSpPr/>
          <p:nvPr/>
        </p:nvSpPr>
        <p:spPr>
          <a:xfrm>
            <a:off x="516636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PLAN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6636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funding, we’ll build the team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166360" y="2569464"/>
            <a:ext cx="201168" cy="201168"/>
          </a:xfrm>
          <a:prstGeom prst="ellipse">
            <a:avLst/>
          </a:prstGeom>
          <a:solidFill>
            <a:srgbClr val="2D4A35"/>
          </a:solidFill>
          <a:ln/>
        </p:spPr>
      </p:sp>
      <p:sp>
        <p:nvSpPr>
          <p:cNvPr id="19" name="Text 17"/>
          <p:cNvSpPr/>
          <p:nvPr/>
        </p:nvSpPr>
        <p:spPr>
          <a:xfrm>
            <a:off x="5532120" y="2514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/ Lead Engineer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32120" y="27432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66360" y="3072384"/>
            <a:ext cx="201168" cy="201168"/>
          </a:xfrm>
          <a:prstGeom prst="ellipse">
            <a:avLst/>
          </a:prstGeom>
          <a:solidFill>
            <a:srgbClr val="2D4A35"/>
          </a:solidFill>
          <a:ln/>
        </p:spPr>
      </p:sp>
      <p:sp>
        <p:nvSpPr>
          <p:cNvPr id="22" name="Text 20"/>
          <p:cNvSpPr/>
          <p:nvPr/>
        </p:nvSpPr>
        <p:spPr>
          <a:xfrm>
            <a:off x="5532120" y="3017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Developer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32120" y="32461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66360" y="3575304"/>
            <a:ext cx="201168" cy="201168"/>
          </a:xfrm>
          <a:prstGeom prst="ellipse">
            <a:avLst/>
          </a:prstGeom>
          <a:solidFill>
            <a:srgbClr val="2D4A35"/>
          </a:solidFill>
          <a:ln/>
        </p:spPr>
      </p:sp>
      <p:sp>
        <p:nvSpPr>
          <p:cNvPr id="25" name="Text 23"/>
          <p:cNvSpPr/>
          <p:nvPr/>
        </p:nvSpPr>
        <p:spPr>
          <a:xfrm>
            <a:off x="5532120" y="3520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Product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532120" y="37490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66360" y="4078224"/>
            <a:ext cx="201168" cy="201168"/>
          </a:xfrm>
          <a:prstGeom prst="ellipse">
            <a:avLst/>
          </a:prstGeom>
          <a:solidFill>
            <a:srgbClr val="2D4A35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4023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Manager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32120" y="42519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$500K Pre-Seed Round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runway to Series A metrics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145536" cy="320040"/>
          </a:xfrm>
          <a:prstGeom prst="rect">
            <a:avLst/>
          </a:prstGeom>
          <a:solidFill>
            <a:srgbClr val="B5651D"/>
          </a:solidFill>
          <a:ln/>
        </p:spPr>
      </p:sp>
      <p:sp>
        <p:nvSpPr>
          <p:cNvPr id="6" name="Shape 4"/>
          <p:cNvSpPr/>
          <p:nvPr/>
        </p:nvSpPr>
        <p:spPr>
          <a:xfrm>
            <a:off x="3785616" y="2011680"/>
            <a:ext cx="1965960" cy="320040"/>
          </a:xfrm>
          <a:prstGeom prst="rect">
            <a:avLst/>
          </a:prstGeom>
          <a:solidFill>
            <a:srgbClr val="2D4A35"/>
          </a:solidFill>
          <a:ln/>
        </p:spPr>
      </p:sp>
      <p:sp>
        <p:nvSpPr>
          <p:cNvPr id="7" name="Shape 5"/>
          <p:cNvSpPr/>
          <p:nvPr/>
        </p:nvSpPr>
        <p:spPr>
          <a:xfrm>
            <a:off x="5751576" y="2011680"/>
            <a:ext cx="1572768" cy="320040"/>
          </a:xfrm>
          <a:prstGeom prst="rect">
            <a:avLst/>
          </a:prstGeom>
          <a:solidFill>
            <a:srgbClr val="C4705A"/>
          </a:solidFill>
          <a:ln/>
        </p:spPr>
      </p:sp>
      <p:sp>
        <p:nvSpPr>
          <p:cNvPr id="8" name="Shape 6"/>
          <p:cNvSpPr/>
          <p:nvPr/>
        </p:nvSpPr>
        <p:spPr>
          <a:xfrm>
            <a:off x="7324344" y="2011680"/>
            <a:ext cx="1179576" cy="320040"/>
          </a:xfrm>
          <a:prstGeom prst="rect">
            <a:avLst/>
          </a:prstGeom>
          <a:solidFill>
            <a:srgbClr val="A89F9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514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CTO + engineer, scale infra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06040" y="2514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4A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6060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06040" y="3108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Community, content, partnerships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514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470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57200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0" y="3108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app, marketplace, AI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7960" y="2514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9F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15%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53796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3108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compliance, runway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3840480"/>
            <a:ext cx="7863840" cy="914400"/>
          </a:xfrm>
          <a:prstGeom prst="rect">
            <a:avLst/>
          </a:prstGeom>
          <a:solidFill>
            <a:srgbClr val="B5651D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METRICS AT SERIES 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4160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3,000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14400" y="44348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Artists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880360" y="4160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$1.2M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880360" y="44348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4160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5%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846320" y="44348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Churn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12280" y="4160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12:1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812280" y="44348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Ratio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5651D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0" y="548640"/>
            <a:ext cx="1463040" cy="1463040"/>
          </a:xfrm>
          <a:prstGeom prst="ellipse">
            <a:avLst/>
          </a:prstGeom>
          <a:solidFill>
            <a:srgbClr val="B5651D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2296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artist deserves the tools
</a:t>
            </a:r>
            <a:pPr algn="ctr" indent="0" marL="0">
              <a:buNone/>
            </a:pPr>
            <a:r>
              <a:rPr lang="en-US" sz="28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turn their passion into a
</a:t>
            </a:r>
            <a:pPr algn="ctr" indent="0" marL="0">
              <a:buNone/>
            </a:pPr>
            <a:r>
              <a:rPr lang="en-US" sz="2800" i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sustainable career.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1920240" cy="365760"/>
          </a:xfrm>
          <a:prstGeom prst="rect">
            <a:avLst/>
          </a:prstGeom>
          <a:solidFill>
            <a:srgbClr val="B5651D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56032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0" y="2651760"/>
            <a:ext cx="1920240" cy="365760"/>
          </a:xfrm>
          <a:prstGeom prst="rect">
            <a:avLst/>
          </a:prstGeom>
          <a:solidFill>
            <a:srgbClr val="B5651D">
              <a:alpha val="1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Transactions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344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2651760"/>
            <a:ext cx="1920240" cy="365760"/>
          </a:xfrm>
          <a:prstGeom prst="rect">
            <a:avLst/>
          </a:prstGeom>
          <a:solidFill>
            <a:srgbClr val="B5651D">
              <a:alpha val="1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Market Data API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76656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9440" y="2651760"/>
            <a:ext cx="1920240" cy="365760"/>
          </a:xfrm>
          <a:prstGeom prst="rect">
            <a:avLst/>
          </a:prstGeom>
          <a:solidFill>
            <a:srgbClr val="B5651D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0" y="3383280"/>
            <a:ext cx="5486400" cy="0"/>
          </a:xfrm>
          <a:prstGeom prst="line">
            <a:avLst/>
          </a:prstGeom>
          <a:noFill/>
          <a:ln w="6350">
            <a:solidFill>
              <a:srgbClr val="B5651D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40080" y="3611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Larry Jones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larry@synergysourceadvisors.com</a:t>
            </a:r>
            <a:endParaRPr lang="en-US" sz="1300" dirty="0"/>
          </a:p>
        </p:txBody>
      </p:sp>
      <p:sp>
        <p:nvSpPr>
          <p:cNvPr id="20" name="Text 18">
            <a:hlinkClick r:id="rId1" tooltip=""/>
          </p:cNvPr>
          <p:cNvSpPr/>
          <p:nvPr/>
        </p:nvSpPr>
        <p:spPr>
          <a:xfrm>
            <a:off x="640080" y="46634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D4854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artistos-mvp.vercel.app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ArtistOS — Investor Pitch Deck 2026</dc:title>
  <dc:subject>PptxGenJS Presentation</dc:subject>
  <dc:creator>Larry Jones</dc:creator>
  <cp:lastModifiedBy>Larry Jones</cp:lastModifiedBy>
  <cp:revision>1</cp:revision>
  <dcterms:created xsi:type="dcterms:W3CDTF">2026-03-12T17:38:56Z</dcterms:created>
  <dcterms:modified xsi:type="dcterms:W3CDTF">2026-03-12T17:38:56Z</dcterms:modified>
</cp:coreProperties>
</file>